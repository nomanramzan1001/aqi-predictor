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rts/chart1.xml" ContentType="application/vnd.openxmlformats-officedocument.drawingml.chart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6" r:id="rId11"/>
    <p:sldId id="267" r:id="rId12"/>
    <p:sldId id="268" r:id="rId13"/>
    <p:sldId id="265" r:id="rId1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A9A7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110" d="100"/>
          <a:sy n="110" d="100"/>
        </p:scale>
        <p:origin x="67" y="-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8FA8C8"/>
                </a:solidFill>
                <a:latin typeface="Arial"/>
              </a:defRPr>
            </a:pPr>
            <a:r>
              <a:rPr lang="en-US" sz="1100" b="0" i="0" u="none" strike="noStrike">
                <a:solidFill>
                  <a:srgbClr val="8FA8C8"/>
                </a:solidFill>
                <a:latin typeface="Arial"/>
              </a:rPr>
              <a:t>R² (Higher = Better)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R² Score</c:v>
                </c:pt>
              </c:strCache>
            </c:strRef>
          </c:tx>
          <c:spPr>
            <a:solidFill>
              <a:srgbClr val="00C9A7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E955-497D-8C74-91DEA575D51B}"/>
              </c:ext>
            </c:extLst>
          </c:dPt>
          <c:dPt>
            <c:idx val="1"/>
            <c:invertIfNegative val="0"/>
            <c:bubble3D val="0"/>
            <c:spPr>
              <a:solidFill>
                <a:srgbClr val="2A8A72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E955-497D-8C74-91DEA575D51B}"/>
              </c:ext>
            </c:extLst>
          </c:dPt>
          <c:dPt>
            <c:idx val="2"/>
            <c:invertIfNegative val="0"/>
            <c:bubble3D val="0"/>
            <c:spPr>
              <a:solidFill>
                <a:srgbClr val="1E6A58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E955-497D-8C74-91DEA575D51B}"/>
              </c:ext>
            </c:extLst>
          </c:dPt>
          <c:dPt>
            <c:idx val="3"/>
            <c:invertIfNegative val="0"/>
            <c:bubble3D val="0"/>
            <c:spPr>
              <a:solidFill>
                <a:srgbClr val="8FA8C8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E955-497D-8C74-91DEA575D51B}"/>
              </c:ext>
            </c:extLst>
          </c:dPt>
          <c:dPt>
            <c:idx val="4"/>
            <c:invertIfNegative val="0"/>
            <c:bubble3D val="0"/>
            <c:spPr>
              <a:solidFill>
                <a:srgbClr val="5E7292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E955-497D-8C74-91DEA575D51B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FFFFFF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Sheet1!$A$2:$A$8</c:f>
              <c:strCache>
                <c:ptCount val="7"/>
                <c:pt idx="0">
                  <c:v>Extra Trees ★</c:v>
                </c:pt>
                <c:pt idx="1">
                  <c:v>XGBRegressor</c:v>
                </c:pt>
                <c:pt idx="2">
                  <c:v>Random Forest</c:v>
                </c:pt>
                <c:pt idx="3">
                  <c:v>CatBoost</c:v>
                </c:pt>
                <c:pt idx="4">
                  <c:v>Gradient Boosting</c:v>
                </c:pt>
                <c:pt idx="5">
                  <c:v>KNN</c:v>
                </c:pt>
                <c:pt idx="6">
                  <c:v>Ridge Regression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0.93700000000000006</c:v>
                </c:pt>
                <c:pt idx="1">
                  <c:v>0.93600000000000005</c:v>
                </c:pt>
                <c:pt idx="2">
                  <c:v>0.91500000000000004</c:v>
                </c:pt>
                <c:pt idx="3">
                  <c:v>0.90800000000000003</c:v>
                </c:pt>
                <c:pt idx="4">
                  <c:v>0.84899999999999998</c:v>
                </c:pt>
                <c:pt idx="5">
                  <c:v>0.7</c:v>
                </c:pt>
                <c:pt idx="6">
                  <c:v>0.68200000000000005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E955-497D-8C74-91DEA575D51B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FA8C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6350" cap="flat">
              <a:solidFill>
                <a:srgbClr val="1E305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FA8C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1A2A40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1A2A40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969883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28016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AQI</a:t>
            </a:r>
            <a:r>
              <a:rPr lang="en-US" sz="60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457200" y="2468880"/>
            <a:ext cx="6858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8FA8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Lahore Air Quality Forecasting System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310896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E72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ML pipeline · Hopsworks Feature Store · Streamlit Dashboard · GitHub Actions CI/CD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3977640"/>
            <a:ext cx="1325880" cy="347472"/>
          </a:xfrm>
          <a:prstGeom prst="roundRect">
            <a:avLst>
              <a:gd name="adj" fmla="val 13158"/>
            </a:avLst>
          </a:prstGeom>
          <a:solidFill>
            <a:srgbClr val="0F1E30"/>
          </a:solidFill>
          <a:ln w="12700">
            <a:solidFill>
              <a:srgbClr val="2A3F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57200" y="3977640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FA8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920240" y="3977640"/>
            <a:ext cx="1325880" cy="347472"/>
          </a:xfrm>
          <a:prstGeom prst="roundRect">
            <a:avLst>
              <a:gd name="adj" fmla="val 13158"/>
            </a:avLst>
          </a:prstGeom>
          <a:solidFill>
            <a:srgbClr val="0F1E30"/>
          </a:solidFill>
          <a:ln w="12700">
            <a:solidFill>
              <a:srgbClr val="2A3F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920240" y="3977640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FA8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383280" y="3977640"/>
            <a:ext cx="1325880" cy="347472"/>
          </a:xfrm>
          <a:prstGeom prst="roundRect">
            <a:avLst>
              <a:gd name="adj" fmla="val 13158"/>
            </a:avLst>
          </a:prstGeom>
          <a:solidFill>
            <a:srgbClr val="0F1E30"/>
          </a:solidFill>
          <a:ln w="12700">
            <a:solidFill>
              <a:srgbClr val="2A3F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383280" y="3977640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FA8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Hopsworks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846320" y="3977640"/>
            <a:ext cx="1325880" cy="347472"/>
          </a:xfrm>
          <a:prstGeom prst="roundRect">
            <a:avLst>
              <a:gd name="adj" fmla="val 13158"/>
            </a:avLst>
          </a:prstGeom>
          <a:solidFill>
            <a:srgbClr val="0F1E30"/>
          </a:solidFill>
          <a:ln w="12700">
            <a:solidFill>
              <a:srgbClr val="2A3F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846320" y="3977640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FA8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scikit-learn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6309360" y="3977640"/>
            <a:ext cx="1325880" cy="347472"/>
          </a:xfrm>
          <a:prstGeom prst="roundRect">
            <a:avLst>
              <a:gd name="adj" fmla="val 13158"/>
            </a:avLst>
          </a:prstGeom>
          <a:solidFill>
            <a:srgbClr val="0F1E30"/>
          </a:solidFill>
          <a:ln w="12700">
            <a:solidFill>
              <a:srgbClr val="2A3F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309360" y="3977640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FA8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Open-Meteo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7772400" y="3977640"/>
            <a:ext cx="1325880" cy="347472"/>
          </a:xfrm>
          <a:prstGeom prst="roundRect">
            <a:avLst>
              <a:gd name="adj" fmla="val 13158"/>
            </a:avLst>
          </a:prstGeom>
          <a:solidFill>
            <a:srgbClr val="0F1E30"/>
          </a:solidFill>
          <a:ln w="12700">
            <a:solidFill>
              <a:srgbClr val="2A3F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7772400" y="3977640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FA8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201168"/>
            <a:ext cx="8503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Overview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20040" y="713232"/>
            <a:ext cx="8503920" cy="0"/>
          </a:xfrm>
          <a:prstGeom prst="line">
            <a:avLst/>
          </a:prstGeom>
          <a:noFill/>
          <a:ln w="12700">
            <a:solidFill>
              <a:srgbClr val="1E30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74320" y="960120"/>
            <a:ext cx="4297680" cy="1234440"/>
          </a:xfrm>
          <a:prstGeom prst="rect">
            <a:avLst/>
          </a:prstGeom>
          <a:solidFill>
            <a:srgbClr val="1A2A40"/>
          </a:solidFill>
          <a:ln w="12700">
            <a:solidFill>
              <a:srgbClr val="1E3A5A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274320" y="960120"/>
            <a:ext cx="54864" cy="1234440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11480" y="1051560"/>
            <a:ext cx="4069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Ingestion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11480" y="1353312"/>
            <a:ext cx="4069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8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Open-Meteo Air Quality API provides current and hourly historical readings — PM2.5, PM10, gases, AQI — no API key required.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74320" y="2331720"/>
            <a:ext cx="4297680" cy="1234440"/>
          </a:xfrm>
          <a:prstGeom prst="rect">
            <a:avLst/>
          </a:prstGeom>
          <a:solidFill>
            <a:srgbClr val="1A2A40"/>
          </a:solidFill>
          <a:ln w="12700">
            <a:solidFill>
              <a:srgbClr val="1E3A5A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274320" y="2331720"/>
            <a:ext cx="54864" cy="1234440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11480" y="2423160"/>
            <a:ext cx="4069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Store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11480" y="2724912"/>
            <a:ext cx="4069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8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Hopsworks stores versioned feature groups with time-series pollution and calendar features for reproducible training.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74320" y="3703320"/>
            <a:ext cx="4297680" cy="1234440"/>
          </a:xfrm>
          <a:prstGeom prst="rect">
            <a:avLst/>
          </a:prstGeom>
          <a:solidFill>
            <a:srgbClr val="1A2A40"/>
          </a:solidFill>
          <a:ln w="12700">
            <a:solidFill>
              <a:srgbClr val="1E3A5A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274320" y="3703320"/>
            <a:ext cx="54864" cy="1234440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11480" y="3794760"/>
            <a:ext cx="4069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11480" y="4096512"/>
            <a:ext cx="4069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8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UI with 10 views — overview, 7-day forecasts, pollutant charts, health guidance, model stats, and more.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800600" y="960120"/>
            <a:ext cx="4297680" cy="1234440"/>
          </a:xfrm>
          <a:prstGeom prst="rect">
            <a:avLst/>
          </a:prstGeom>
          <a:solidFill>
            <a:srgbClr val="1A2A40"/>
          </a:solidFill>
          <a:ln w="12700">
            <a:solidFill>
              <a:srgbClr val="1E3A5A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4800600" y="960120"/>
            <a:ext cx="54864" cy="1234440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937760" y="1051560"/>
            <a:ext cx="4069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Training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937760" y="1353312"/>
            <a:ext cx="4069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8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regressors trained daily: Random Forest, Ridge, Gradient Boosting, Extra Trees, KNN, </a:t>
            </a:r>
            <a:r>
              <a:rPr lang="en-US" sz="1000" dirty="0" err="1">
                <a:solidFill>
                  <a:srgbClr val="D8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</a:t>
            </a:r>
            <a:r>
              <a:rPr lang="en-US" sz="1000" dirty="0">
                <a:solidFill>
                  <a:srgbClr val="D8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CatBoost. Best R² model auto-selected.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800600" y="2331720"/>
            <a:ext cx="4297680" cy="1234440"/>
          </a:xfrm>
          <a:prstGeom prst="rect">
            <a:avLst/>
          </a:prstGeom>
          <a:solidFill>
            <a:srgbClr val="1A2A40"/>
          </a:solidFill>
          <a:ln w="12700">
            <a:solidFill>
              <a:srgbClr val="1E3A5A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4800600" y="2331720"/>
            <a:ext cx="54864" cy="1234440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937760" y="2423160"/>
            <a:ext cx="4069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937760" y="2724912"/>
            <a:ext cx="4069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8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Actions: hourly feature ingestion &amp; daily retraining on ubuntu-latest / Python 3.12 with secret management.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287897" y="4901184"/>
            <a:ext cx="8458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8FA8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Lahore, Pakistan · 31.5204°N 74.3587°E · Coordinated via Open-Meteo &amp; Hopsworks Cloud (eu-west)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201168"/>
            <a:ext cx="8503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20040" y="713232"/>
            <a:ext cx="8503920" cy="0"/>
          </a:xfrm>
          <a:prstGeom prst="line">
            <a:avLst/>
          </a:prstGeom>
          <a:noFill/>
          <a:ln w="12700">
            <a:solidFill>
              <a:srgbClr val="1E30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74320" y="1417320"/>
            <a:ext cx="1508760" cy="1143000"/>
          </a:xfrm>
          <a:prstGeom prst="rect">
            <a:avLst/>
          </a:prstGeom>
          <a:solidFill>
            <a:srgbClr val="0F1E30"/>
          </a:solidFill>
          <a:ln w="12700">
            <a:solidFill>
              <a:srgbClr val="4F8EF7"/>
            </a:solidFill>
            <a:prstDash val="solid"/>
          </a:ln>
          <a:effectLst>
            <a:outerShdw blurRad="1016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274320" y="1417320"/>
            <a:ext cx="1508760" cy="73152"/>
          </a:xfrm>
          <a:prstGeom prst="rect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320040" y="1508760"/>
            <a:ext cx="1417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Open-Meteo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 Quality API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1783080" y="1988820"/>
            <a:ext cx="411480" cy="0"/>
          </a:xfrm>
          <a:prstGeom prst="line">
            <a:avLst/>
          </a:prstGeom>
          <a:noFill/>
          <a:ln w="19050">
            <a:solidFill>
              <a:srgbClr val="8FA8C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2011680" y="1828800"/>
            <a:ext cx="228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8FA8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920240" y="1417320"/>
            <a:ext cx="1508760" cy="1143000"/>
          </a:xfrm>
          <a:prstGeom prst="rect">
            <a:avLst/>
          </a:prstGeom>
          <a:solidFill>
            <a:srgbClr val="0F1E30"/>
          </a:solidFill>
          <a:ln w="12700">
            <a:solidFill>
              <a:srgbClr val="4A6080"/>
            </a:solidFill>
            <a:prstDash val="solid"/>
          </a:ln>
          <a:effectLst>
            <a:outerShdw blurRad="1016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1920240" y="1417320"/>
            <a:ext cx="1508760" cy="73152"/>
          </a:xfrm>
          <a:prstGeom prst="rect">
            <a:avLst/>
          </a:prstGeom>
          <a:solidFill>
            <a:srgbClr val="4A6080"/>
          </a:solidFill>
          <a:ln w="12700">
            <a:solidFill>
              <a:srgbClr val="4A60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1965960" y="1508760"/>
            <a:ext cx="1417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(hourly)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429000" y="1988820"/>
            <a:ext cx="411480" cy="0"/>
          </a:xfrm>
          <a:prstGeom prst="line">
            <a:avLst/>
          </a:prstGeom>
          <a:noFill/>
          <a:ln w="19050">
            <a:solidFill>
              <a:srgbClr val="8FA8C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3657600" y="1828800"/>
            <a:ext cx="228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8FA8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3566160" y="1417320"/>
            <a:ext cx="1508760" cy="1143000"/>
          </a:xfrm>
          <a:prstGeom prst="rect">
            <a:avLst/>
          </a:prstGeom>
          <a:solidFill>
            <a:srgbClr val="0F1E30"/>
          </a:solidFill>
          <a:ln w="12700">
            <a:solidFill>
              <a:srgbClr val="00C9A7"/>
            </a:solidFill>
            <a:prstDash val="solid"/>
          </a:ln>
          <a:effectLst>
            <a:outerShdw blurRad="1016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3566160" y="1417320"/>
            <a:ext cx="1508760" cy="73152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3611880" y="1508760"/>
            <a:ext cx="1417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Hopsworks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Store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074920" y="1988820"/>
            <a:ext cx="411480" cy="0"/>
          </a:xfrm>
          <a:prstGeom prst="line">
            <a:avLst/>
          </a:prstGeom>
          <a:noFill/>
          <a:ln w="19050">
            <a:solidFill>
              <a:srgbClr val="8FA8C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303520" y="1828800"/>
            <a:ext cx="228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8FA8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212080" y="1417320"/>
            <a:ext cx="1508760" cy="1143000"/>
          </a:xfrm>
          <a:prstGeom prst="rect">
            <a:avLst/>
          </a:prstGeom>
          <a:solidFill>
            <a:srgbClr val="0F1E30"/>
          </a:solidFill>
          <a:ln w="12700">
            <a:solidFill>
              <a:srgbClr val="4A6080"/>
            </a:solidFill>
            <a:prstDash val="solid"/>
          </a:ln>
          <a:effectLst>
            <a:outerShdw blurRad="1016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5212080" y="1417320"/>
            <a:ext cx="1508760" cy="73152"/>
          </a:xfrm>
          <a:prstGeom prst="rect">
            <a:avLst/>
          </a:prstGeom>
          <a:solidFill>
            <a:srgbClr val="4A6080"/>
          </a:solidFill>
          <a:ln w="12700">
            <a:solidFill>
              <a:srgbClr val="4A60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5257800" y="1508760"/>
            <a:ext cx="1417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(daily)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720840" y="1988820"/>
            <a:ext cx="411480" cy="0"/>
          </a:xfrm>
          <a:prstGeom prst="line">
            <a:avLst/>
          </a:prstGeom>
          <a:noFill/>
          <a:ln w="19050">
            <a:solidFill>
              <a:srgbClr val="8FA8C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6949440" y="1828800"/>
            <a:ext cx="228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8FA8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6858000" y="1417320"/>
            <a:ext cx="1508760" cy="1143000"/>
          </a:xfrm>
          <a:prstGeom prst="rect">
            <a:avLst/>
          </a:prstGeom>
          <a:solidFill>
            <a:srgbClr val="0F1E30"/>
          </a:solidFill>
          <a:ln w="12700">
            <a:solidFill>
              <a:srgbClr val="00C9A7"/>
            </a:solidFill>
            <a:prstDash val="solid"/>
          </a:ln>
          <a:effectLst>
            <a:outerShdw blurRad="1016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6858000" y="1417320"/>
            <a:ext cx="1508760" cy="73152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6903720" y="1508760"/>
            <a:ext cx="1417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Hopsworks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Registry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3474720" y="3108960"/>
            <a:ext cx="2194560" cy="822960"/>
          </a:xfrm>
          <a:prstGeom prst="rect">
            <a:avLst/>
          </a:prstGeom>
          <a:solidFill>
            <a:srgbClr val="1A2A40"/>
          </a:solidFill>
          <a:ln w="12700">
            <a:solidFill>
              <a:srgbClr val="4F8EF7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3474720" y="3108960"/>
            <a:ext cx="2194560" cy="64008"/>
          </a:xfrm>
          <a:prstGeom prst="rect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3520440" y="3172968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</a:t>
            </a: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Dashboard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297680" y="260604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8FA8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274320" y="4663440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8FA8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services: Open-Meteo (free, no key) · Hopsworks Cloud eu-west · GitHub Actions for automation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201168"/>
            <a:ext cx="8503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Four-Stage Pipeline Flow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20040" y="713232"/>
            <a:ext cx="8503920" cy="0"/>
          </a:xfrm>
          <a:prstGeom prst="line">
            <a:avLst/>
          </a:prstGeom>
          <a:noFill/>
          <a:ln w="12700">
            <a:solidFill>
              <a:srgbClr val="1E30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74320" y="960120"/>
            <a:ext cx="2011680" cy="3200400"/>
          </a:xfrm>
          <a:prstGeom prst="rect">
            <a:avLst/>
          </a:prstGeom>
          <a:solidFill>
            <a:srgbClr val="1A2A40"/>
          </a:solidFill>
          <a:ln w="12700">
            <a:solidFill>
              <a:srgbClr val="2A50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274320" y="960120"/>
            <a:ext cx="2011680" cy="548640"/>
          </a:xfrm>
          <a:prstGeom prst="rect">
            <a:avLst/>
          </a:prstGeom>
          <a:solidFill>
            <a:srgbClr val="2A5080"/>
          </a:solidFill>
          <a:ln w="12700">
            <a:solidFill>
              <a:srgbClr val="2A50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347472" y="978408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347472" y="160020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Backfill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65760" y="205740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8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backfill.py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D8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365-day historical load (one-time)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240280" y="192024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8FA8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2468880" y="960120"/>
            <a:ext cx="2011680" cy="3200400"/>
          </a:xfrm>
          <a:prstGeom prst="rect">
            <a:avLst/>
          </a:prstGeom>
          <a:solidFill>
            <a:srgbClr val="1A2A40"/>
          </a:solidFill>
          <a:ln w="12700">
            <a:solidFill>
              <a:srgbClr val="1A60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2468880" y="960120"/>
            <a:ext cx="2011680" cy="548640"/>
          </a:xfrm>
          <a:prstGeom prst="rect">
            <a:avLst/>
          </a:prstGeom>
          <a:solidFill>
            <a:srgbClr val="1A6060"/>
          </a:solidFill>
          <a:ln w="12700">
            <a:solidFill>
              <a:srgbClr val="1A60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2542032" y="978408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2542032" y="160020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Pipeline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560320" y="205740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8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feature_pipeline.py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D8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Hourly via GitHub Actions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434840" y="192024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8FA8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4663440" y="960120"/>
            <a:ext cx="2011680" cy="3200400"/>
          </a:xfrm>
          <a:prstGeom prst="rect">
            <a:avLst/>
          </a:prstGeom>
          <a:solidFill>
            <a:srgbClr val="1A2A40"/>
          </a:solidFill>
          <a:ln w="12700">
            <a:solidFill>
              <a:srgbClr val="1A60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4663440" y="960120"/>
            <a:ext cx="2011680" cy="548640"/>
          </a:xfrm>
          <a:prstGeom prst="rect">
            <a:avLst/>
          </a:prstGeom>
          <a:solidFill>
            <a:srgbClr val="1A6060"/>
          </a:solidFill>
          <a:ln w="12700">
            <a:solidFill>
              <a:srgbClr val="1A60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736592" y="978408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4736592" y="160020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Pipeline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754880" y="205740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8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training_pipeline.py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D8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· trains 7 models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629400" y="192024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8FA8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6858000" y="960120"/>
            <a:ext cx="2011680" cy="3200400"/>
          </a:xfrm>
          <a:prstGeom prst="rect">
            <a:avLst/>
          </a:prstGeom>
          <a:solidFill>
            <a:srgbClr val="1A2A40"/>
          </a:solidFill>
          <a:ln w="12700">
            <a:solidFill>
              <a:srgbClr val="2A50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6858000" y="960120"/>
            <a:ext cx="2011680" cy="548640"/>
          </a:xfrm>
          <a:prstGeom prst="rect">
            <a:avLst/>
          </a:prstGeom>
          <a:solidFill>
            <a:srgbClr val="2A5080"/>
          </a:solidFill>
          <a:ln w="12700">
            <a:solidFill>
              <a:srgbClr val="2A50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6931152" y="978408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6931152" y="160020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App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49440" y="205740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8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streamlit_app.py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D8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pages · live &amp; forecast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274320" y="4315968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8FA8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lifecycle: Backfill → Feature ingestion (hourly) → Model training (daily) → Dashboard</a:t>
            </a:r>
          </a:p>
          <a:p>
            <a:pPr marL="0" indent="0" algn="ctr">
              <a:buNone/>
            </a:pP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201168"/>
            <a:ext cx="8503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Benchmark Results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20040" y="713232"/>
            <a:ext cx="8503920" cy="0"/>
          </a:xfrm>
          <a:prstGeom prst="line">
            <a:avLst/>
          </a:prstGeom>
          <a:noFill/>
          <a:ln w="12700">
            <a:solidFill>
              <a:srgbClr val="1E30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graphicFrame>
        <p:nvGraphicFramePr>
          <p:cNvPr id="5" name="Chart 0"/>
          <p:cNvGraphicFramePr/>
          <p:nvPr>
            <p:extLst>
              <p:ext uri="{D42A27DB-BD31-4B8C-83A1-F6EECF244321}">
                <p14:modId xmlns:p14="http://schemas.microsoft.com/office/powerpoint/2010/main" val="347841342"/>
              </p:ext>
            </p:extLst>
          </p:nvPr>
        </p:nvGraphicFramePr>
        <p:xfrm>
          <a:off x="146367" y="804672"/>
          <a:ext cx="5120640" cy="3886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50705199"/>
              </p:ext>
            </p:extLst>
          </p:nvPr>
        </p:nvGraphicFramePr>
        <p:xfrm>
          <a:off x="5404167" y="868680"/>
          <a:ext cx="3419793" cy="3096768"/>
        </p:xfrm>
        <a:graphic>
          <a:graphicData uri="http://schemas.openxmlformats.org/drawingml/2006/table">
            <a:tbl>
              <a:tblPr/>
              <a:tblGrid>
                <a:gridCol w="44799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8FA8C8"/>
                          </a:solidFill>
                        </a:rPr>
                        <a:t>Rank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E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8FA8C8"/>
                          </a:solidFill>
                        </a:rPr>
                        <a:t>Model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E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8FA8C8"/>
                          </a:solidFill>
                        </a:rPr>
                        <a:t>R²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E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8FA8C8"/>
                          </a:solidFill>
                        </a:rPr>
                        <a:t>RMSE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E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8FA8C8"/>
                          </a:solidFill>
                        </a:rPr>
                        <a:t>MAE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E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0C9A7"/>
                          </a:solidFill>
                        </a:rPr>
                        <a:t>1 ★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A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0C9A7"/>
                          </a:solidFill>
                        </a:rPr>
                        <a:t>Extra Trees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A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0C9A7"/>
                          </a:solidFill>
                        </a:rPr>
                        <a:t>0.937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A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0C9A7"/>
                          </a:solidFill>
                        </a:rPr>
                        <a:t>12.07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A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0C9A7"/>
                          </a:solidFill>
                        </a:rPr>
                        <a:t>8.18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A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57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D8E2F5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A4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solidFill>
                            <a:srgbClr val="D8E2F5"/>
                          </a:solidFill>
                        </a:rPr>
                        <a:t>XGBRegressor</a:t>
                      </a:r>
                      <a:endParaRPr lang="en-US" sz="1000" dirty="0"/>
                    </a:p>
                    <a:p>
                      <a:pPr marL="0" indent="0">
                        <a:buNone/>
                      </a:pP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A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D8E2F5"/>
                          </a:solidFill>
                        </a:rPr>
                        <a:t>0.936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A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D8E2F5"/>
                          </a:solidFill>
                        </a:rPr>
                        <a:t>12.18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A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D8E2F5"/>
                          </a:solidFill>
                        </a:rPr>
                        <a:t>8.74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A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5938887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D8E2F5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A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D8E2F5"/>
                          </a:solidFill>
                        </a:rPr>
                        <a:t>Random Forest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A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D8E2F5"/>
                          </a:solidFill>
                        </a:rPr>
                        <a:t>0.915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A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D8E2F5"/>
                          </a:solidFill>
                        </a:rPr>
                        <a:t>14.04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A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D8E2F5"/>
                          </a:solidFill>
                        </a:rPr>
                        <a:t>9.66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A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solidFill>
                            <a:srgbClr val="D8E2F5"/>
                          </a:solidFill>
                        </a:rPr>
                        <a:t>4</a:t>
                      </a:r>
                      <a:endParaRPr lang="en-US" sz="1000" dirty="0"/>
                    </a:p>
                    <a:p>
                      <a:pPr marL="0" indent="0">
                        <a:buNone/>
                      </a:pP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A4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solidFill>
                            <a:srgbClr val="D8E2F5"/>
                          </a:solidFill>
                        </a:rPr>
                        <a:t>CatBoost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A4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solidFill>
                            <a:srgbClr val="D8E2F5"/>
                          </a:solidFill>
                        </a:rPr>
                        <a:t>0.908</a:t>
                      </a:r>
                      <a:endParaRPr lang="en-US" sz="1000" dirty="0"/>
                    </a:p>
                    <a:p>
                      <a:pPr marL="0" indent="0">
                        <a:buNone/>
                      </a:pP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A4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solidFill>
                            <a:srgbClr val="D8E2F5"/>
                          </a:solidFill>
                        </a:rPr>
                        <a:t>14.63</a:t>
                      </a:r>
                      <a:endParaRPr lang="en-US" sz="1000" dirty="0"/>
                    </a:p>
                    <a:p>
                      <a:pPr marL="0" indent="0">
                        <a:buNone/>
                      </a:pP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A4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>
                          <a:solidFill>
                            <a:srgbClr val="D8E2F5"/>
                          </a:solidFill>
                        </a:rPr>
                        <a:t>10.98</a:t>
                      </a:r>
                      <a:endParaRPr lang="en-US" sz="1000" dirty="0"/>
                    </a:p>
                    <a:p>
                      <a:pPr marL="0" indent="0">
                        <a:buNone/>
                      </a:pP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A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75524089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D8E2F5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A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D8E2F5"/>
                          </a:solidFill>
                        </a:rPr>
                        <a:t>Gradient Boosting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A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D8E2F5"/>
                          </a:solidFill>
                        </a:rPr>
                        <a:t>0.849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A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D8E2F5"/>
                          </a:solidFill>
                        </a:rPr>
                        <a:t>12.27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A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D8E2F5"/>
                          </a:solidFill>
                        </a:rPr>
                        <a:t>9.72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A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D8E2F5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A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D8E2F5"/>
                          </a:solidFill>
                        </a:rPr>
                        <a:t>KNN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A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D8E2F5"/>
                          </a:solidFill>
                        </a:rPr>
                        <a:t>0.700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A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D8E2F5"/>
                          </a:solidFill>
                        </a:rPr>
                        <a:t>26.41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A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D8E2F5"/>
                          </a:solidFill>
                        </a:rPr>
                        <a:t>19.84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A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D8E2F5"/>
                          </a:solidFill>
                        </a:rPr>
                        <a:t>7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A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D8E2F5"/>
                          </a:solidFill>
                        </a:rPr>
                        <a:t>Ridge Regression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A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D8E2F5"/>
                          </a:solidFill>
                        </a:rPr>
                        <a:t>0.682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A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D8E2F5"/>
                          </a:solidFill>
                        </a:rPr>
                        <a:t>26.49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A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D8E2F5"/>
                          </a:solidFill>
                        </a:rPr>
                        <a:t>20.00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A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274320" y="4782312"/>
            <a:ext cx="8595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8FA8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run · 2,184 records · 80/20 train/test split · Best model auto-saved to Hopsworks Model Registry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201168"/>
            <a:ext cx="8503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Dashboard — 10 Pages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20040" y="713232"/>
            <a:ext cx="8503920" cy="0"/>
          </a:xfrm>
          <a:prstGeom prst="line">
            <a:avLst/>
          </a:prstGeom>
          <a:noFill/>
          <a:ln w="12700">
            <a:solidFill>
              <a:srgbClr val="1E30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74320" y="960120"/>
            <a:ext cx="4251960" cy="658368"/>
          </a:xfrm>
          <a:prstGeom prst="rect">
            <a:avLst/>
          </a:prstGeom>
          <a:solidFill>
            <a:srgbClr val="1A2A40"/>
          </a:solidFill>
          <a:ln w="12700">
            <a:solidFill>
              <a:srgbClr val="1E30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274320" y="960120"/>
            <a:ext cx="54864" cy="658368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11480" y="1024128"/>
            <a:ext cx="4023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Overview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11480" y="128930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8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AQI hero, 3-day forecast, 7-model comparison, pollutants, 24h trend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754880" y="960120"/>
            <a:ext cx="4251960" cy="658368"/>
          </a:xfrm>
          <a:prstGeom prst="rect">
            <a:avLst/>
          </a:prstGeom>
          <a:solidFill>
            <a:srgbClr val="1A2A40"/>
          </a:solidFill>
          <a:ln w="12700">
            <a:solidFill>
              <a:srgbClr val="1E30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754880" y="960120"/>
            <a:ext cx="54864" cy="658368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892040" y="1024128"/>
            <a:ext cx="4023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Hourly AQI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892040" y="128930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8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Hourly averages and time-series visualization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274320" y="1737360"/>
            <a:ext cx="4251960" cy="658368"/>
          </a:xfrm>
          <a:prstGeom prst="rect">
            <a:avLst/>
          </a:prstGeom>
          <a:solidFill>
            <a:srgbClr val="1A2A40"/>
          </a:solidFill>
          <a:ln w="12700">
            <a:solidFill>
              <a:srgbClr val="1E30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274320" y="1737360"/>
            <a:ext cx="54864" cy="658368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11480" y="1801368"/>
            <a:ext cx="4023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Daily AQI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11480" y="206654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8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aggregates, monthly trends, category distribution pie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754880" y="1737360"/>
            <a:ext cx="4251960" cy="658368"/>
          </a:xfrm>
          <a:prstGeom prst="rect">
            <a:avLst/>
          </a:prstGeom>
          <a:solidFill>
            <a:srgbClr val="1A2A40"/>
          </a:solidFill>
          <a:ln w="12700">
            <a:solidFill>
              <a:srgbClr val="1E30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4754880" y="1737360"/>
            <a:ext cx="54864" cy="658368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892040" y="1801368"/>
            <a:ext cx="4023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Forecast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892040" y="206654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8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7-day predicted AQI bar chart, day-by-day breakdown, confidence band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274320" y="2514600"/>
            <a:ext cx="4251960" cy="658368"/>
          </a:xfrm>
          <a:prstGeom prst="rect">
            <a:avLst/>
          </a:prstGeom>
          <a:solidFill>
            <a:srgbClr val="1A2A40"/>
          </a:solidFill>
          <a:ln w="12700">
            <a:solidFill>
              <a:srgbClr val="1E30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274320" y="2514600"/>
            <a:ext cx="54864" cy="658368"/>
          </a:xfrm>
          <a:prstGeom prst="rect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11480" y="2578608"/>
            <a:ext cx="4023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F8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Charts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11480" y="284378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8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AQI by hour of day, day of week, 90-day rolling trend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754880" y="2514600"/>
            <a:ext cx="4251960" cy="658368"/>
          </a:xfrm>
          <a:prstGeom prst="rect">
            <a:avLst/>
          </a:prstGeom>
          <a:solidFill>
            <a:srgbClr val="1A2A40"/>
          </a:solidFill>
          <a:ln w="12700">
            <a:solidFill>
              <a:srgbClr val="1E30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4754880" y="2514600"/>
            <a:ext cx="54864" cy="658368"/>
          </a:xfrm>
          <a:prstGeom prst="rect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4892040" y="2578608"/>
            <a:ext cx="4023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F8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Pollutants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892040" y="284378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8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PM2.5, PM10, O₃, NO₂, CO, SO₂ vs WHO limits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274320" y="3291840"/>
            <a:ext cx="4251960" cy="658368"/>
          </a:xfrm>
          <a:prstGeom prst="rect">
            <a:avLst/>
          </a:prstGeom>
          <a:solidFill>
            <a:srgbClr val="1A2A40"/>
          </a:solidFill>
          <a:ln w="12700">
            <a:solidFill>
              <a:srgbClr val="1E30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274320" y="3291840"/>
            <a:ext cx="54864" cy="658368"/>
          </a:xfrm>
          <a:prstGeom prst="rect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411480" y="3355848"/>
            <a:ext cx="4023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F8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Heatmap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11480" y="362102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8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AQI intensity heatmap over time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4754880" y="3291840"/>
            <a:ext cx="4251960" cy="658368"/>
          </a:xfrm>
          <a:prstGeom prst="rect">
            <a:avLst/>
          </a:prstGeom>
          <a:solidFill>
            <a:srgbClr val="1A2A40"/>
          </a:solidFill>
          <a:ln w="12700">
            <a:solidFill>
              <a:srgbClr val="1E30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4754880" y="3291840"/>
            <a:ext cx="54864" cy="658368"/>
          </a:xfrm>
          <a:prstGeom prst="rect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4892040" y="3355848"/>
            <a:ext cx="4023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F8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 Model Stats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4892040" y="362102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8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7 models ranked by R²; best model highlighted with live metrics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274320" y="4069080"/>
            <a:ext cx="4251960" cy="658368"/>
          </a:xfrm>
          <a:prstGeom prst="rect">
            <a:avLst/>
          </a:prstGeom>
          <a:solidFill>
            <a:srgbClr val="1A2A40"/>
          </a:solidFill>
          <a:ln w="12700">
            <a:solidFill>
              <a:srgbClr val="1E30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Shape 36"/>
          <p:cNvSpPr/>
          <p:nvPr/>
        </p:nvSpPr>
        <p:spPr>
          <a:xfrm>
            <a:off x="274320" y="4069080"/>
            <a:ext cx="54864" cy="658368"/>
          </a:xfrm>
          <a:prstGeom prst="rect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411480" y="4133088"/>
            <a:ext cx="4023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F8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 Health Guide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411480" y="439826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8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AQI category health recommendations by range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4754880" y="4069080"/>
            <a:ext cx="4251960" cy="658368"/>
          </a:xfrm>
          <a:prstGeom prst="rect">
            <a:avLst/>
          </a:prstGeom>
          <a:solidFill>
            <a:srgbClr val="1A2A40"/>
          </a:solidFill>
          <a:ln w="12700">
            <a:solidFill>
              <a:srgbClr val="1E30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Shape 40"/>
          <p:cNvSpPr/>
          <p:nvPr/>
        </p:nvSpPr>
        <p:spPr>
          <a:xfrm>
            <a:off x="4754880" y="4069080"/>
            <a:ext cx="54864" cy="658368"/>
          </a:xfrm>
          <a:prstGeom prst="rect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4892040" y="4133088"/>
            <a:ext cx="4023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F8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 Data History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4892040" y="439826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8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feature table and export-oriented view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201168"/>
            <a:ext cx="8503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 AQI Categories &amp; Health Guidance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20040" y="713232"/>
            <a:ext cx="8503920" cy="0"/>
          </a:xfrm>
          <a:prstGeom prst="line">
            <a:avLst/>
          </a:prstGeom>
          <a:noFill/>
          <a:ln w="12700">
            <a:solidFill>
              <a:srgbClr val="1E30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74320" y="960120"/>
            <a:ext cx="4251960" cy="1188720"/>
          </a:xfrm>
          <a:prstGeom prst="rect">
            <a:avLst/>
          </a:prstGeom>
          <a:solidFill>
            <a:srgbClr val="1A2A40"/>
          </a:solidFill>
          <a:ln w="12700">
            <a:solidFill>
              <a:srgbClr val="1E30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274320" y="960120"/>
            <a:ext cx="54864" cy="1188720"/>
          </a:xfrm>
          <a:prstGeom prst="rect">
            <a:avLst/>
          </a:prstGeom>
          <a:solidFill>
            <a:srgbClr val="00C853"/>
          </a:solidFill>
          <a:ln w="12700">
            <a:solidFill>
              <a:srgbClr val="00C85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11480" y="105156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C8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– 50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11480" y="1325880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11480" y="1673352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FA8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 quality is satisfactory. No risk.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74320" y="2286000"/>
            <a:ext cx="4251960" cy="1188720"/>
          </a:xfrm>
          <a:prstGeom prst="rect">
            <a:avLst/>
          </a:prstGeom>
          <a:solidFill>
            <a:srgbClr val="1A2A40"/>
          </a:solidFill>
          <a:ln w="12700">
            <a:solidFill>
              <a:srgbClr val="1E30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274320" y="2286000"/>
            <a:ext cx="54864" cy="1188720"/>
          </a:xfrm>
          <a:prstGeom prst="rect">
            <a:avLst/>
          </a:prstGeom>
          <a:solidFill>
            <a:srgbClr val="FFD600"/>
          </a:solidFill>
          <a:ln w="12700">
            <a:solidFill>
              <a:srgbClr val="FFD6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11480" y="237744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D6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 – 100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11480" y="2651760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Moderate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11480" y="2999232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FA8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Acceptable. Unusually sensitive people may be affected.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74320" y="3611880"/>
            <a:ext cx="4251960" cy="1188720"/>
          </a:xfrm>
          <a:prstGeom prst="rect">
            <a:avLst/>
          </a:prstGeom>
          <a:solidFill>
            <a:srgbClr val="1A2A40"/>
          </a:solidFill>
          <a:ln w="12700">
            <a:solidFill>
              <a:srgbClr val="1E30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274320" y="3611880"/>
            <a:ext cx="54864" cy="1188720"/>
          </a:xfrm>
          <a:prstGeom prst="rect">
            <a:avLst/>
          </a:prstGeom>
          <a:solidFill>
            <a:srgbClr val="FF6D00"/>
          </a:solidFill>
          <a:ln w="12700">
            <a:solidFill>
              <a:srgbClr val="FF6D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11480" y="370332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6D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101 – 150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11480" y="3977640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Unhealthy for</a:t>
            </a:r>
            <a:endParaRPr lang="en-US" sz="1300" dirty="0"/>
          </a:p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Sensitive Groups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11480" y="4325112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FA8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Sensitive groups may experience effects. General public not likely affected.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754880" y="960120"/>
            <a:ext cx="4251960" cy="1188720"/>
          </a:xfrm>
          <a:prstGeom prst="rect">
            <a:avLst/>
          </a:prstGeom>
          <a:solidFill>
            <a:srgbClr val="1A2A40"/>
          </a:solidFill>
          <a:ln w="12700">
            <a:solidFill>
              <a:srgbClr val="1E30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4754880" y="960120"/>
            <a:ext cx="54864" cy="1188720"/>
          </a:xfrm>
          <a:prstGeom prst="rect">
            <a:avLst/>
          </a:prstGeom>
          <a:solidFill>
            <a:srgbClr val="D50000"/>
          </a:solidFill>
          <a:ln w="12700">
            <a:solidFill>
              <a:srgbClr val="D5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4892040" y="105156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5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151 – 200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892040" y="1325880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Unhealthy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892040" y="1673352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FA8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 may begin to experience health effects.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4251960" cy="1188720"/>
          </a:xfrm>
          <a:prstGeom prst="rect">
            <a:avLst/>
          </a:prstGeom>
          <a:solidFill>
            <a:srgbClr val="1A2A40"/>
          </a:solidFill>
          <a:ln w="12700">
            <a:solidFill>
              <a:srgbClr val="1E30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4754880" y="2286000"/>
            <a:ext cx="54864" cy="1188720"/>
          </a:xfrm>
          <a:prstGeom prst="rect">
            <a:avLst/>
          </a:prstGeom>
          <a:solidFill>
            <a:srgbClr val="AA00FF"/>
          </a:solidFill>
          <a:ln w="12700">
            <a:solidFill>
              <a:srgbClr val="AA00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4892040" y="237744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AA0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 – 300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892040" y="2651760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Unhealthy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4892040" y="2999232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FA8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alert — everyone may experience serious effects.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754880" y="3611880"/>
            <a:ext cx="4251960" cy="1188720"/>
          </a:xfrm>
          <a:prstGeom prst="rect">
            <a:avLst/>
          </a:prstGeom>
          <a:solidFill>
            <a:srgbClr val="1A2A40"/>
          </a:solidFill>
          <a:ln w="12700">
            <a:solidFill>
              <a:srgbClr val="1E30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4754880" y="3611880"/>
            <a:ext cx="54864" cy="1188720"/>
          </a:xfrm>
          <a:prstGeom prst="rect">
            <a:avLst/>
          </a:prstGeom>
          <a:solidFill>
            <a:srgbClr val="8B0000"/>
          </a:solidFill>
          <a:ln w="12700">
            <a:solidFill>
              <a:srgbClr val="8B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4892040" y="370332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8B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301+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4892040" y="3977640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Hazardous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4892040" y="4325112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FA8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emergency. Everyone is more likely to be affected.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201168"/>
            <a:ext cx="8503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Group Schema &amp; Training Inputs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20040" y="713232"/>
            <a:ext cx="8503920" cy="0"/>
          </a:xfrm>
          <a:prstGeom prst="line">
            <a:avLst/>
          </a:prstGeom>
          <a:noFill/>
          <a:ln w="12700">
            <a:solidFill>
              <a:srgbClr val="1E30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00760444"/>
              </p:ext>
            </p:extLst>
          </p:nvPr>
        </p:nvGraphicFramePr>
        <p:xfrm>
          <a:off x="274320" y="868680"/>
          <a:ext cx="8595360" cy="3291840"/>
        </p:xfrm>
        <a:graphic>
          <a:graphicData uri="http://schemas.openxmlformats.org/drawingml/2006/table">
            <a:tbl>
              <a:tblPr/>
              <a:tblGrid>
                <a:gridCol w="256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46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8FA8C8"/>
                          </a:solidFill>
                        </a:rPr>
                        <a:t>Feature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E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8FA8C8"/>
                          </a:solidFill>
                        </a:rPr>
                        <a:t>Type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E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8FA8C8"/>
                          </a:solidFill>
                        </a:rPr>
                        <a:t>Description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E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D8E2F5"/>
                          </a:solidFill>
                        </a:rPr>
                        <a:t>timestamp / city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A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D8E2F5"/>
                          </a:solidFill>
                        </a:rPr>
                        <a:t>string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A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D8E2F5"/>
                          </a:solidFill>
                        </a:rPr>
                        <a:t>Primary key composite — e.g. Lahore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A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D8E2F5"/>
                          </a:solidFill>
                        </a:rPr>
                        <a:t>hour, day, month, day_of_week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A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D8E2F5"/>
                          </a:solidFill>
                        </a:rPr>
                        <a:t>int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A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D8E2F5"/>
                          </a:solidFill>
                        </a:rPr>
                        <a:t>Calendar / cyclical time features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A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D8E2F5"/>
                          </a:solidFill>
                        </a:rPr>
                        <a:t>pm2_5, pm10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A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D8E2F5"/>
                          </a:solidFill>
                        </a:rPr>
                        <a:t>float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A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D8E2F5"/>
                          </a:solidFill>
                        </a:rPr>
                        <a:t>Particulate matter (µg/m³)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A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D8E2F5"/>
                          </a:solidFill>
                        </a:rPr>
                        <a:t>carbon_monoxide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A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D8E2F5"/>
                          </a:solidFill>
                        </a:rPr>
                        <a:t>float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A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D8E2F5"/>
                          </a:solidFill>
                        </a:rPr>
                        <a:t>CO concentration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A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D8E2F5"/>
                          </a:solidFill>
                        </a:rPr>
                        <a:t>nitrogen_dioxide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A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D8E2F5"/>
                          </a:solidFill>
                        </a:rPr>
                        <a:t>float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A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D8E2F5"/>
                          </a:solidFill>
                        </a:rPr>
                        <a:t>NO₂ concentration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A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D8E2F5"/>
                          </a:solidFill>
                        </a:rPr>
                        <a:t>ozone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A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D8E2F5"/>
                          </a:solidFill>
                        </a:rPr>
                        <a:t>float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A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D8E2F5"/>
                          </a:solidFill>
                        </a:rPr>
                        <a:t>O₃ concentration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A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D8E2F5"/>
                          </a:solidFill>
                        </a:rPr>
                        <a:t>sulphur_dioxide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A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D8E2F5"/>
                          </a:solidFill>
                        </a:rPr>
                        <a:t>float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A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D8E2F5"/>
                          </a:solidFill>
                        </a:rPr>
                        <a:t>SO₂ concentration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A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D8E2F5"/>
                          </a:solidFill>
                        </a:rPr>
                        <a:t>us_aqi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A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D8E2F5"/>
                          </a:solidFill>
                        </a:rPr>
                        <a:t>float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A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D8E2F5"/>
                          </a:solidFill>
                        </a:rPr>
                        <a:t>Target variable — US AQI index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A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D8E2F5"/>
                          </a:solidFill>
                        </a:rPr>
                        <a:t>aqi_change_rate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A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D8E2F5"/>
                          </a:solidFill>
                        </a:rPr>
                        <a:t>float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A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D8E2F5"/>
                          </a:solidFill>
                        </a:rPr>
                        <a:t>Hour-over-hour AQI delta (training feature)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A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201168"/>
            <a:ext cx="8503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 Workflows &amp; Environment Configuration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20040" y="713232"/>
            <a:ext cx="8503920" cy="0"/>
          </a:xfrm>
          <a:prstGeom prst="line">
            <a:avLst/>
          </a:prstGeom>
          <a:noFill/>
          <a:ln w="12700">
            <a:solidFill>
              <a:srgbClr val="1E30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74320" y="868680"/>
            <a:ext cx="4114800" cy="1508760"/>
          </a:xfrm>
          <a:prstGeom prst="rect">
            <a:avLst/>
          </a:prstGeom>
          <a:solidFill>
            <a:srgbClr val="1A2A40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274320" y="868680"/>
            <a:ext cx="4114800" cy="64008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11480" y="96012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Pipeline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11480" y="1307592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FA8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File: feature_pipeline.yml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11480" y="155448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8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Schedule: Every hour (0 * * * *)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11480" y="1801368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8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Script: feature_pipeline.py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09160" y="868680"/>
            <a:ext cx="4114800" cy="1508760"/>
          </a:xfrm>
          <a:prstGeom prst="rect">
            <a:avLst/>
          </a:prstGeom>
          <a:solidFill>
            <a:srgbClr val="1A2A40"/>
          </a:solidFill>
          <a:ln w="12700">
            <a:solidFill>
              <a:srgbClr val="4F8E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4709160" y="868680"/>
            <a:ext cx="4114800" cy="64008"/>
          </a:xfrm>
          <a:prstGeom prst="rect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846320" y="96012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4F8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Pipeline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846320" y="1307592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FA8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File: train_pipeline.yml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846320" y="155448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8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Schedule: Daily at 06:00 UTC (0 6 * * *)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846320" y="1801368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8E2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Script: training_pipeline.py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274320" y="2560320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 GitHub Secrets</a:t>
            </a:r>
            <a:endParaRPr lang="en-US" sz="13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36521283"/>
              </p:ext>
            </p:extLst>
          </p:nvPr>
        </p:nvGraphicFramePr>
        <p:xfrm>
          <a:off x="274320" y="2971800"/>
          <a:ext cx="7331710" cy="1508760"/>
        </p:xfrm>
        <a:graphic>
          <a:graphicData uri="http://schemas.openxmlformats.org/drawingml/2006/table">
            <a:tbl>
              <a:tblPr/>
              <a:tblGrid>
                <a:gridCol w="16624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754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17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8FA8C8"/>
                          </a:solidFill>
                        </a:rPr>
                        <a:t>Secret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E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8FA8C8"/>
                          </a:solidFill>
                        </a:rPr>
                        <a:t>Required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E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8FA8C8"/>
                          </a:solidFill>
                        </a:rPr>
                        <a:t>Used by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E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00C9A7"/>
                          </a:solidFill>
                        </a:rPr>
                        <a:t>HOPSWORKS_API_KEY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A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C9A7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A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D8E2F5"/>
                          </a:solidFill>
                        </a:rPr>
                        <a:t>Both workflows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A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00C9A7"/>
                          </a:solidFill>
                        </a:rPr>
                        <a:t>HOPSWORKS_PROJECT_NAME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A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C9A7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A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D8E2F5"/>
                          </a:solidFill>
                        </a:rPr>
                        <a:t>Both workflows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A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00C9A7"/>
                          </a:solidFill>
                        </a:rPr>
                        <a:t>FEATURE_GROUP_NAME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A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C9A7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A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D8E2F5"/>
                          </a:solidFill>
                        </a:rPr>
                        <a:t>Both workflows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A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00C9A7"/>
                          </a:solidFill>
                        </a:rPr>
                        <a:t>FEATURE_GROUP_VERSION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A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C9A7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A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D8E2F5"/>
                          </a:solidFill>
                        </a:rPr>
                        <a:t>Both workflows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A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5D0FA46-CCDF-FF56-F0E2-F9838796DB09}"/>
              </a:ext>
            </a:extLst>
          </p:cNvPr>
          <p:cNvSpPr txBox="1"/>
          <p:nvPr/>
        </p:nvSpPr>
        <p:spPr>
          <a:xfrm>
            <a:off x="0" y="0"/>
            <a:ext cx="9144000" cy="461665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2A9A75"/>
                </a:solidFill>
              </a:rPr>
              <a:t>Screenshots</a:t>
            </a:r>
            <a:endParaRPr lang="en-GB" sz="2400" b="1" dirty="0">
              <a:solidFill>
                <a:srgbClr val="2A9A75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8E9854E-4831-FFA4-0188-5D58152FBF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42712"/>
            <a:ext cx="9144000" cy="4655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16843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28A79A5-7D67-9D87-744E-6C59BD1FC5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"/>
            <a:ext cx="9144000" cy="53062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689878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90914451-6CA9-22D1-24EE-237844262C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38545" y="0"/>
            <a:ext cx="9282545" cy="51434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9058707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1371600"/>
            <a:ext cx="109728" cy="2377440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1371600"/>
            <a:ext cx="1371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8000" dirty="0"/>
          </a:p>
        </p:txBody>
      </p:sp>
      <p:sp>
        <p:nvSpPr>
          <p:cNvPr id="5" name="Text 3"/>
          <p:cNvSpPr/>
          <p:nvPr/>
        </p:nvSpPr>
        <p:spPr>
          <a:xfrm>
            <a:off x="365760" y="246888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365760" y="329184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8FA8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AQI-Predictor · Lahore Air Quality Forecasting System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3931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8FA8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Data: Open-Meteo  ·  Platform: Hopsworks  ·  UI: Streamlit  ·  CI/CD: GitHub Actions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66</TotalTime>
  <Words>830</Words>
  <Application>Microsoft Office PowerPoint</Application>
  <PresentationFormat>On-screen Show (16:9)</PresentationFormat>
  <Paragraphs>216</Paragraphs>
  <Slides>13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AQI-Predictor — Lahore</dc:title>
  <dc:subject>PptxGenJS Presentation</dc:subject>
  <dc:creator>PptxGenJS</dc:creator>
  <cp:lastModifiedBy>Muhammad Noman</cp:lastModifiedBy>
  <cp:revision>4</cp:revision>
  <dcterms:created xsi:type="dcterms:W3CDTF">2026-06-07T09:00:28Z</dcterms:created>
  <dcterms:modified xsi:type="dcterms:W3CDTF">2026-09-02T19:06:03Z</dcterms:modified>
</cp:coreProperties>
</file>