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9A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5" d="100"/>
          <a:sy n="105" d="100"/>
        </p:scale>
        <p:origin x="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8FA8C8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8FA8C8"/>
                </a:solidFill>
                <a:latin typeface="Arial"/>
              </a:rPr>
              <a:t>R² (Higher =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955-497D-8C74-91DEA575D51B}"/>
              </c:ext>
            </c:extLst>
          </c:dPt>
          <c:dPt>
            <c:idx val="1"/>
            <c:invertIfNegative val="0"/>
            <c:bubble3D val="0"/>
            <c:spPr>
              <a:solidFill>
                <a:srgbClr val="2A8A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955-497D-8C74-91DEA575D51B}"/>
              </c:ext>
            </c:extLst>
          </c:dPt>
          <c:dPt>
            <c:idx val="2"/>
            <c:invertIfNegative val="0"/>
            <c:bubble3D val="0"/>
            <c:spPr>
              <a:solidFill>
                <a:srgbClr val="1E6A5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955-497D-8C74-91DEA575D51B}"/>
              </c:ext>
            </c:extLst>
          </c:dPt>
          <c:dPt>
            <c:idx val="3"/>
            <c:invertIfNegative val="0"/>
            <c:bubble3D val="0"/>
            <c:spPr>
              <a:solidFill>
                <a:srgbClr val="8FA8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955-497D-8C74-91DEA575D51B}"/>
              </c:ext>
            </c:extLst>
          </c:dPt>
          <c:dPt>
            <c:idx val="4"/>
            <c:invertIfNegative val="0"/>
            <c:bubble3D val="0"/>
            <c:spPr>
              <a:solidFill>
                <a:srgbClr val="5E729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955-497D-8C74-91DEA575D51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XGBRegressor</c:v>
                </c:pt>
                <c:pt idx="1">
                  <c:v>Extra Trees</c:v>
                </c:pt>
                <c:pt idx="2">
                  <c:v>Random Forest</c:v>
                </c:pt>
                <c:pt idx="3">
                  <c:v>CatBoost</c:v>
                </c:pt>
                <c:pt idx="4">
                  <c:v>Gradient Boosting</c:v>
                </c:pt>
                <c:pt idx="5">
                  <c:v>KNN</c:v>
                </c:pt>
                <c:pt idx="6">
                  <c:v>Ridge Regression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0.93799999999999994</c:v>
                </c:pt>
                <c:pt idx="1">
                  <c:v>0.93600000000000005</c:v>
                </c:pt>
                <c:pt idx="2">
                  <c:v>0.91500000000000004</c:v>
                </c:pt>
                <c:pt idx="3">
                  <c:v>0.90800000000000003</c:v>
                </c:pt>
                <c:pt idx="4">
                  <c:v>0.84899999999999998</c:v>
                </c:pt>
                <c:pt idx="5">
                  <c:v>0.7</c:v>
                </c:pt>
                <c:pt idx="6">
                  <c:v>0.68200000000000005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955-497D-8C74-91DEA575D5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8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8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A4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2A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988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</a:t>
            </a:r>
            <a:r>
              <a:rPr lang="en-US" sz="6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Lahore Air Quality Forecasting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 · Hopsworks Feature Store · Streamlit Dashboard · GitHub Actions CI/CD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977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F1E30"/>
          </a:solidFill>
          <a:ln w="1270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20240" y="3977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F1E30"/>
          </a:solidFill>
          <a:ln w="1270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20240" y="3977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3977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F1E30"/>
          </a:solidFill>
          <a:ln w="1270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3977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Hopsworks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3977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F1E30"/>
          </a:solidFill>
          <a:ln w="1270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3977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9360" y="3977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F1E30"/>
          </a:solidFill>
          <a:ln w="1270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3977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0" y="3977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F1E30"/>
          </a:solidFill>
          <a:ln w="12700">
            <a:solidFill>
              <a:srgbClr val="2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0" y="3977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0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97680" cy="1234440"/>
          </a:xfrm>
          <a:prstGeom prst="rect">
            <a:avLst/>
          </a:prstGeom>
          <a:solidFill>
            <a:srgbClr val="1A2A40"/>
          </a:solidFill>
          <a:ln w="12700">
            <a:solidFill>
              <a:srgbClr val="1E3A5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4864" cy="1234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35331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Air Quality API provides current and hourly historical readings — PM2.5, PM10, gases, AQI — no API key required.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4297680" cy="1234440"/>
          </a:xfrm>
          <a:prstGeom prst="rect">
            <a:avLst/>
          </a:prstGeom>
          <a:solidFill>
            <a:srgbClr val="1A2A40"/>
          </a:solidFill>
          <a:ln w="12700">
            <a:solidFill>
              <a:srgbClr val="1E3A5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54864" cy="1234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72491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Hopsworks stores versioned feature groups with time-series pollution and calendar features for reproducible training.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703320"/>
            <a:ext cx="4297680" cy="1234440"/>
          </a:xfrm>
          <a:prstGeom prst="rect">
            <a:avLst/>
          </a:prstGeom>
          <a:solidFill>
            <a:srgbClr val="1A2A40"/>
          </a:solidFill>
          <a:ln w="12700">
            <a:solidFill>
              <a:srgbClr val="1E3A5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3703320"/>
            <a:ext cx="54864" cy="1234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7947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09651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with 10 views — overview, 7-day forecasts, pollutant charts, health guidance, model stats, and more.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960120"/>
            <a:ext cx="4297680" cy="1234440"/>
          </a:xfrm>
          <a:prstGeom prst="rect">
            <a:avLst/>
          </a:prstGeom>
          <a:solidFill>
            <a:srgbClr val="1A2A40"/>
          </a:solidFill>
          <a:ln w="12700">
            <a:solidFill>
              <a:srgbClr val="1E3A5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00600" y="960120"/>
            <a:ext cx="54864" cy="1234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10515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135331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regressors trained daily: Random Forest, Ridge, Gradient Boosting, Extra Trees, KNN, XGBoost and CatBoost. Best R² model auto-selected.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331720"/>
            <a:ext cx="4297680" cy="1234440"/>
          </a:xfrm>
          <a:prstGeom prst="rect">
            <a:avLst/>
          </a:prstGeom>
          <a:solidFill>
            <a:srgbClr val="1A2A40"/>
          </a:solidFill>
          <a:ln w="12700">
            <a:solidFill>
              <a:srgbClr val="1E3A5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0600" y="2331720"/>
            <a:ext cx="54864" cy="1234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24231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272491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hourly feature ingestion &amp; daily retraining on ubuntu-latest / Python 3.12 with secret management.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7897" y="4901184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Lahore, Pakistan · 31.5204°N 74.3587°E · Coordinated via Open-Meteo &amp; Hopsworks Cloud (eu-west)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0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508760" cy="1143000"/>
          </a:xfrm>
          <a:prstGeom prst="rect">
            <a:avLst/>
          </a:prstGeom>
          <a:solidFill>
            <a:srgbClr val="0F1E30"/>
          </a:solidFill>
          <a:ln w="12700">
            <a:solidFill>
              <a:srgbClr val="4F8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150876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API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83080" y="1988820"/>
            <a:ext cx="411480" cy="0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18288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20240" y="1417320"/>
            <a:ext cx="1508760" cy="1143000"/>
          </a:xfrm>
          <a:prstGeom prst="rect">
            <a:avLst/>
          </a:prstGeom>
          <a:solidFill>
            <a:srgbClr val="0F1E30"/>
          </a:solidFill>
          <a:ln w="12700">
            <a:solidFill>
              <a:srgbClr val="4A608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20240" y="1417320"/>
            <a:ext cx="1508760" cy="73152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65960" y="150876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(hourly)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29000" y="1988820"/>
            <a:ext cx="411480" cy="0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0" y="18288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66160" y="1417320"/>
            <a:ext cx="1508760" cy="1143000"/>
          </a:xfrm>
          <a:prstGeom prst="rect">
            <a:avLst/>
          </a:prstGeom>
          <a:solidFill>
            <a:srgbClr val="0F1E30"/>
          </a:solidFill>
          <a:ln w="12700">
            <a:solidFill>
              <a:srgbClr val="00C9A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566160" y="1417320"/>
            <a:ext cx="150876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11880" y="150876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Hopsworks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74920" y="1988820"/>
            <a:ext cx="411480" cy="0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0" y="18288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12080" y="1417320"/>
            <a:ext cx="1508760" cy="1143000"/>
          </a:xfrm>
          <a:prstGeom prst="rect">
            <a:avLst/>
          </a:prstGeom>
          <a:solidFill>
            <a:srgbClr val="0F1E30"/>
          </a:solidFill>
          <a:ln w="12700">
            <a:solidFill>
              <a:srgbClr val="4A608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212080" y="1417320"/>
            <a:ext cx="1508760" cy="73152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57800" y="150876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(daily)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20840" y="1988820"/>
            <a:ext cx="411480" cy="0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0" y="18288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0" y="1417320"/>
            <a:ext cx="1508760" cy="1143000"/>
          </a:xfrm>
          <a:prstGeom prst="rect">
            <a:avLst/>
          </a:prstGeom>
          <a:solidFill>
            <a:srgbClr val="0F1E30"/>
          </a:solidFill>
          <a:ln w="12700">
            <a:solidFill>
              <a:srgbClr val="00C9A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858000" y="1417320"/>
            <a:ext cx="150876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03720" y="150876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Hopsworks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74720" y="3108960"/>
            <a:ext cx="2194560" cy="822960"/>
          </a:xfrm>
          <a:prstGeom prst="rect">
            <a:avLst/>
          </a:prstGeom>
          <a:solidFill>
            <a:srgbClr val="1A2A40"/>
          </a:solidFill>
          <a:ln w="12700">
            <a:solidFill>
              <a:srgbClr val="4F8EF7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474720" y="3108960"/>
            <a:ext cx="219456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520440" y="317296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9768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services: Open-Meteo (free, no key) · Hopsworks Cloud eu-west · GitHub Actions for automation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Four-Stage Pipeline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0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3200400"/>
          </a:xfrm>
          <a:prstGeom prst="rect">
            <a:avLst/>
          </a:prstGeom>
          <a:solidFill>
            <a:srgbClr val="1A2A40"/>
          </a:solidFill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011680" cy="548640"/>
          </a:xfrm>
          <a:prstGeom prst="rect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978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" y="1600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365-day historical load (one-time)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68880" y="960120"/>
            <a:ext cx="2011680" cy="3200400"/>
          </a:xfrm>
          <a:prstGeom prst="rect">
            <a:avLst/>
          </a:prstGeom>
          <a:solidFill>
            <a:srgbClr val="1A2A40"/>
          </a:solidFill>
          <a:ln w="12700">
            <a:solidFill>
              <a:srgbClr val="1A6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68880" y="960120"/>
            <a:ext cx="2011680" cy="548640"/>
          </a:xfrm>
          <a:prstGeom prst="rect">
            <a:avLst/>
          </a:prstGeom>
          <a:solidFill>
            <a:srgbClr val="1A6060"/>
          </a:solidFill>
          <a:ln w="12700">
            <a:solidFill>
              <a:srgbClr val="1A6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42032" y="978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42032" y="1600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feature_pipeline.py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via GitHub Actions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3484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2011680" cy="3200400"/>
          </a:xfrm>
          <a:prstGeom prst="rect">
            <a:avLst/>
          </a:prstGeom>
          <a:solidFill>
            <a:srgbClr val="1A2A40"/>
          </a:solidFill>
          <a:ln w="12700">
            <a:solidFill>
              <a:srgbClr val="1A6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2011680" cy="548640"/>
          </a:xfrm>
          <a:prstGeom prst="rect">
            <a:avLst/>
          </a:prstGeom>
          <a:solidFill>
            <a:srgbClr val="1A6060"/>
          </a:solidFill>
          <a:ln w="12700">
            <a:solidFill>
              <a:srgbClr val="1A6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36592" y="978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36592" y="1600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training_pipeline.py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· trains 7 models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2940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0" y="960120"/>
            <a:ext cx="2011680" cy="3200400"/>
          </a:xfrm>
          <a:prstGeom prst="rect">
            <a:avLst/>
          </a:prstGeom>
          <a:solidFill>
            <a:srgbClr val="1A2A40"/>
          </a:solidFill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58000" y="960120"/>
            <a:ext cx="2011680" cy="548640"/>
          </a:xfrm>
          <a:prstGeom prst="rect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31152" y="978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31152" y="1600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streamlit_app.py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pages · live &amp; forecast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3159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lifecycle: Backfill → Feature ingestion (hourly) → Model training (daily) → Dashboard</a:t>
            </a:r>
          </a:p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Benchmark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0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96332822"/>
              </p:ext>
            </p:extLst>
          </p:nvPr>
        </p:nvGraphicFramePr>
        <p:xfrm>
          <a:off x="146367" y="804672"/>
          <a:ext cx="512064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048144"/>
              </p:ext>
            </p:extLst>
          </p:nvPr>
        </p:nvGraphicFramePr>
        <p:xfrm>
          <a:off x="5404167" y="868680"/>
          <a:ext cx="3419793" cy="3096768"/>
        </p:xfrm>
        <a:graphic>
          <a:graphicData uri="http://schemas.openxmlformats.org/drawingml/2006/table">
            <a:tbl>
              <a:tblPr/>
              <a:tblGrid>
                <a:gridCol w="447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FA8C8"/>
                          </a:solidFill>
                        </a:rPr>
                        <a:t>Rank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FA8C8"/>
                          </a:solidFill>
                        </a:rPr>
                        <a:t>Model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FA8C8"/>
                          </a:solidFill>
                        </a:rPr>
                        <a:t>R²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FA8C8"/>
                          </a:solidFill>
                        </a:rPr>
                        <a:t>RMSE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FA8C8"/>
                          </a:solidFill>
                        </a:rPr>
                        <a:t>MAE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9A7"/>
                          </a:solidFill>
                        </a:rPr>
                        <a:t>1 ★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C9A7"/>
                          </a:solidFill>
                        </a:rPr>
                        <a:t>XGBRegressor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9A7"/>
                          </a:solidFill>
                        </a:rPr>
                        <a:t>0.938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9A7"/>
                          </a:solidFill>
                        </a:rPr>
                        <a:t>12.00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9A7"/>
                          </a:solidFill>
                        </a:rPr>
                        <a:t>8.54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Extra Trees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0.937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12.07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8.18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93888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Random Forest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0.915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14.04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9.66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4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CatBoost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0.908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14.63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10.98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52408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Gradient Boosting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0.849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12.27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9.72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KNN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0.700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26.41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19.84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Ridge Regression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0.682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26.49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20.00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274320" y="478231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 · 2,184 records · 80/20 train/test split · Best model auto-saved to Hopsworks Model Registry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10 Pages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0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51960" cy="65836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4864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2893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AQI hero, 3-day forecast, 7-model comparison, pollutants, 24h trend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251960" cy="65836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54864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0241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Hourly AQI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2893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averages and time-series visualization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737360"/>
            <a:ext cx="4251960" cy="65836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1737360"/>
            <a:ext cx="54864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18013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Daily AQI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0665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aggregates, monthly trends, category distribution pie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737360"/>
            <a:ext cx="4251960" cy="65836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1737360"/>
            <a:ext cx="54864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18013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Forecast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0665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7-day predicted AQI bar chart, day-by-day breakdown, confidence band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514600"/>
            <a:ext cx="4251960" cy="65836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514600"/>
            <a:ext cx="54864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25786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Charts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28437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by hour of day, day of week, 90-day rolling trend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514600"/>
            <a:ext cx="4251960" cy="65836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2514600"/>
            <a:ext cx="54864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25786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Pollutants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28437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PM2.5, PM10, O₃, NO₂, CO, SO₂ vs WHO limits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291840"/>
            <a:ext cx="4251960" cy="65836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3291840"/>
            <a:ext cx="54864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335584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Heatmap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36210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intensity heatmap over time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291840"/>
            <a:ext cx="4251960" cy="65836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54880" y="3291840"/>
            <a:ext cx="54864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92040" y="335584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Model Stats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36210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models ranked by R²; best model highlighted with live metrics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069080"/>
            <a:ext cx="4251960" cy="65836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4320" y="4069080"/>
            <a:ext cx="54864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11480" y="41330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Health Guide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1480" y="43982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category health recommendations by range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4069080"/>
            <a:ext cx="4251960" cy="65836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754880" y="4069080"/>
            <a:ext cx="54864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92040" y="41330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Data History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92040" y="43982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 table and export-oriented view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AQI Categories &amp; Health Guidance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0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51960" cy="1188720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4864" cy="11887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50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733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is satisfactory. No risk.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4251960" cy="1188720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54864" cy="118872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377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– 100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651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9992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Acceptable. Unusually sensitive people may be affected.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611880"/>
            <a:ext cx="4251960" cy="1188720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54864" cy="118872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703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– 150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9776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Unhealthy for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Groups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43251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groups may experience effects. General public not likely affected.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251960" cy="1188720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960120"/>
            <a:ext cx="54864" cy="1188720"/>
          </a:xfrm>
          <a:prstGeom prst="rect">
            <a:avLst/>
          </a:prstGeom>
          <a:solidFill>
            <a:srgbClr val="D50000"/>
          </a:solidFill>
          <a:ln w="12700">
            <a:solidFill>
              <a:srgbClr val="D5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1051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5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 – 200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Unhealthy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16733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may begin to experience health effects.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4251960" cy="1188720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2286000"/>
            <a:ext cx="54864" cy="1188720"/>
          </a:xfrm>
          <a:prstGeom prst="rect">
            <a:avLst/>
          </a:prstGeom>
          <a:solidFill>
            <a:srgbClr val="AA00FF"/>
          </a:solidFill>
          <a:ln w="12700">
            <a:solidFill>
              <a:srgbClr val="AA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2377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– 300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2651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Unhealthy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29992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alert — everyone may experience serious effects.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611880"/>
            <a:ext cx="4251960" cy="1188720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3611880"/>
            <a:ext cx="54864" cy="11887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92040" y="3703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39776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92040" y="43251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emergency. Everyone is more likely to be affected.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 Schema &amp; Training Inputs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0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760444"/>
              </p:ext>
            </p:extLst>
          </p:nvPr>
        </p:nvGraphicFramePr>
        <p:xfrm>
          <a:off x="274320" y="868680"/>
          <a:ext cx="8595360" cy="32918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FA8C8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FA8C8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FA8C8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timestamp / city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Primary key composite — e.g. Lahore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hour, day, month, day_of_week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int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Calendar / cyclical time features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pm2_5, pm10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float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Particulate matter (µg/m³)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carbon_monoxide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float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CO concentration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nitrogen_dioxide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float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NO₂ concentration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ozone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float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O₃ concentration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sulphur_dioxide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float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SO₂ concentration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us_aqi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float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Target variable — US AQI index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aqi_change_rate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float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Hour-over-hour AQI delta (training feature)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Workflows &amp; Environment Configuration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0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1508760"/>
          </a:xfrm>
          <a:prstGeom prst="rect">
            <a:avLst/>
          </a:prstGeom>
          <a:solidFill>
            <a:srgbClr val="1A2A40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3075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feature_pipeline.yml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Every hour (0 * * * *)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013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feature_pipeline.py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868680"/>
            <a:ext cx="4114800" cy="1508760"/>
          </a:xfrm>
          <a:prstGeom prst="rect">
            <a:avLst/>
          </a:prstGeom>
          <a:solidFill>
            <a:srgbClr val="1A2A40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868680"/>
            <a:ext cx="41148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Pipeline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3075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train_pipeline.yml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554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Daily at 06:00 UTC (0 6 * * *)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8013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training_pipeline.py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25603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GitHub Secrets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521283"/>
              </p:ext>
            </p:extLst>
          </p:nvPr>
        </p:nvGraphicFramePr>
        <p:xfrm>
          <a:off x="274320" y="2971800"/>
          <a:ext cx="7331710" cy="1508760"/>
        </p:xfrm>
        <a:graphic>
          <a:graphicData uri="http://schemas.openxmlformats.org/drawingml/2006/table">
            <a:tbl>
              <a:tblPr/>
              <a:tblGrid>
                <a:gridCol w="1662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FA8C8"/>
                          </a:solidFill>
                        </a:rPr>
                        <a:t>Secret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FA8C8"/>
                          </a:solidFill>
                        </a:rPr>
                        <a:t>Required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FA8C8"/>
                          </a:solidFill>
                        </a:rPr>
                        <a:t>Used by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C9A7"/>
                          </a:solidFill>
                        </a:rPr>
                        <a:t>HOPSWORKS_API_KEY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C9A7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8E2F5"/>
                          </a:solidFill>
                        </a:rPr>
                        <a:t>Both workflows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C9A7"/>
                          </a:solidFill>
                        </a:rPr>
                        <a:t>HOPSWORKS_PROJECT_NAME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C9A7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8E2F5"/>
                          </a:solidFill>
                        </a:rPr>
                        <a:t>Both workflows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C9A7"/>
                          </a:solidFill>
                        </a:rPr>
                        <a:t>FEATURE_GROUP_NAME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C9A7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8E2F5"/>
                          </a:solidFill>
                        </a:rPr>
                        <a:t>Both workflows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C9A7"/>
                          </a:solidFill>
                        </a:rPr>
                        <a:t>FEATURE_GROUP_VERSION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C9A7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8E2F5"/>
                          </a:solidFill>
                        </a:rPr>
                        <a:t>Both workflows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D0FA46-CCDF-FF56-F0E2-F9838796DB09}"/>
              </a:ext>
            </a:extLst>
          </p:cNvPr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A9A75"/>
                </a:solidFill>
              </a:rPr>
              <a:t>Screenshots</a:t>
            </a:r>
            <a:endParaRPr lang="en-GB" sz="2400" b="1" dirty="0">
              <a:solidFill>
                <a:srgbClr val="2A9A75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9854E-4831-FFA4-0188-5D58152FB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2712"/>
            <a:ext cx="9144000" cy="465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684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8A79A5-7D67-9D87-744E-6C59BD1FC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30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898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0914451-6CA9-22D1-24EE-237844262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8545" y="0"/>
            <a:ext cx="9282545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587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09728" cy="2377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AQI-Predictor · Lahore Air Quality Forecasting System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931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Open-Meteo  ·  Platform: Hopsworks  ·  UI: Streamlit  ·  CI/CD: GitHub Actions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830</Words>
  <Application>Microsoft Office PowerPoint</Application>
  <PresentationFormat>On-screen Show (16:9)</PresentationFormat>
  <Paragraphs>216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AQI-Predictor — Lahore</dc:title>
  <dc:subject>PptxGenJS Presentation</dc:subject>
  <dc:creator>PptxGenJS</dc:creator>
  <cp:lastModifiedBy>Muhammad Noman</cp:lastModifiedBy>
  <cp:revision>5</cp:revision>
  <dcterms:created xsi:type="dcterms:W3CDTF">2026-06-07T09:00:28Z</dcterms:created>
  <dcterms:modified xsi:type="dcterms:W3CDTF">2026-09-03T12:32:47Z</dcterms:modified>
</cp:coreProperties>
</file>